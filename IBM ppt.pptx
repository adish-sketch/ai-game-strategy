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64" r:id="rId8"/>
    <p:sldId id="286" r:id="rId9"/>
    <p:sldId id="287" r:id="rId10"/>
    <p:sldId id="280" r:id="rId11"/>
    <p:sldId id="290" r:id="rId12"/>
    <p:sldId id="288" r:id="rId13"/>
    <p:sldId id="291"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918399" y="1406432"/>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61376246"/>
              </p:ext>
            </p:extLst>
          </p:nvPr>
        </p:nvGraphicFramePr>
        <p:xfrm>
          <a:off x="247858" y="2208474"/>
          <a:ext cx="10961929" cy="2884636"/>
        </p:xfrm>
        <a:graphic>
          <a:graphicData uri="http://schemas.openxmlformats.org/drawingml/2006/table">
            <a:tbl>
              <a:tblPr>
                <a:noFill/>
                <a:tableStyleId>{0AAD8F4D-43EB-41E5-8A38-28AB6DFB1B60}</a:tableStyleId>
              </a:tblPr>
              <a:tblGrid>
                <a:gridCol w="2682155">
                  <a:extLst>
                    <a:ext uri="{9D8B030D-6E8A-4147-A177-3AD203B41FA5}">
                      <a16:colId xmlns:a16="http://schemas.microsoft.com/office/drawing/2014/main" val="20000"/>
                    </a:ext>
                  </a:extLst>
                </a:gridCol>
                <a:gridCol w="2282097">
                  <a:extLst>
                    <a:ext uri="{9D8B030D-6E8A-4147-A177-3AD203B41FA5}">
                      <a16:colId xmlns:a16="http://schemas.microsoft.com/office/drawing/2014/main" val="20002"/>
                    </a:ext>
                  </a:extLst>
                </a:gridCol>
                <a:gridCol w="3578942">
                  <a:extLst>
                    <a:ext uri="{9D8B030D-6E8A-4147-A177-3AD203B41FA5}">
                      <a16:colId xmlns:a16="http://schemas.microsoft.com/office/drawing/2014/main" val="20003"/>
                    </a:ext>
                  </a:extLst>
                </a:gridCol>
                <a:gridCol w="2418735">
                  <a:extLst>
                    <a:ext uri="{9D8B030D-6E8A-4147-A177-3AD203B41FA5}">
                      <a16:colId xmlns:a16="http://schemas.microsoft.com/office/drawing/2014/main" val="20004"/>
                    </a:ext>
                  </a:extLst>
                </a:gridCol>
              </a:tblGrid>
              <a:tr h="1295463">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589173">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endParaRPr lang="en-IN" sz="2000" b="1" dirty="0"/>
                    </a:p>
                    <a:p>
                      <a:pPr marL="0" marR="0" lvl="0" indent="0" algn="l" rtl="0">
                        <a:spcBef>
                          <a:spcPts val="0"/>
                        </a:spcBef>
                        <a:spcAft>
                          <a:spcPts val="0"/>
                        </a:spcAft>
                        <a:buNone/>
                      </a:pPr>
                      <a:r>
                        <a:rPr lang="en-IN" sz="2000" b="1" dirty="0"/>
                        <a:t>Adarsh Gaidhankar</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sz="1800" b="1" dirty="0"/>
                    </a:p>
                    <a:p>
                      <a:pPr marL="0" marR="0" lvl="0" indent="0" algn="l" rtl="0">
                        <a:spcBef>
                          <a:spcPts val="0"/>
                        </a:spcBef>
                        <a:spcAft>
                          <a:spcPts val="0"/>
                        </a:spcAft>
                        <a:buNone/>
                      </a:pPr>
                      <a:r>
                        <a:rPr lang="en-IN" sz="1800" b="1" dirty="0"/>
                        <a:t>adarsh.gaidhankar@gmail.com</a:t>
                      </a:r>
                      <a:endParaRPr sz="18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2000" dirty="0"/>
                    </a:p>
                    <a:p>
                      <a:pPr marL="0" marR="0" lvl="0" indent="0" algn="ctr" rtl="0">
                        <a:spcBef>
                          <a:spcPts val="0"/>
                        </a:spcBef>
                        <a:spcAft>
                          <a:spcPts val="0"/>
                        </a:spcAft>
                        <a:buNone/>
                      </a:pPr>
                      <a:endParaRPr lang="en-IN" sz="2000" dirty="0"/>
                    </a:p>
                    <a:p>
                      <a:pPr marL="0" marR="0" lvl="0" indent="0" algn="ctr" rtl="0">
                        <a:spcBef>
                          <a:spcPts val="0"/>
                        </a:spcBef>
                        <a:spcAft>
                          <a:spcPts val="0"/>
                        </a:spcAft>
                        <a:buNone/>
                      </a:pPr>
                      <a:r>
                        <a:rPr lang="en-IN" sz="2000" b="1" dirty="0"/>
                        <a:t>7058462995</a:t>
                      </a:r>
                      <a:endParaRPr sz="20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588774" y="3667433"/>
            <a:ext cx="1288026" cy="1307690"/>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117673" y="1455279"/>
            <a:ext cx="10280254" cy="461665"/>
          </a:xfrm>
          <a:prstGeom prst="rect">
            <a:avLst/>
          </a:prstGeom>
          <a:noFill/>
        </p:spPr>
        <p:txBody>
          <a:bodyPr wrap="square" rtlCol="0">
            <a:spAutoFit/>
          </a:bodyPr>
          <a:lstStyle/>
          <a:p>
            <a:r>
              <a:rPr lang="en-US" sz="2400" b="1" dirty="0"/>
              <a:t>Domain of  Project – Gaming</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The AI Game Strategy Advisor Agent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32311"/>
          </a:xfrm>
          <a:prstGeom prst="rect">
            <a:avLst/>
          </a:prstGeom>
          <a:noFill/>
        </p:spPr>
        <p:txBody>
          <a:bodyPr wrap="square" rtlCol="0">
            <a:spAutoFit/>
          </a:bodyPr>
          <a:lstStyle/>
          <a:p>
            <a:pPr fontAlgn="base"/>
            <a:r>
              <a:rPr lang="en-US" sz="2000" dirty="0"/>
              <a:t>The AI Game Strategy Advisor Agent </a:t>
            </a:r>
          </a:p>
          <a:p>
            <a:pPr fontAlgn="base"/>
            <a:r>
              <a:rPr lang="en-US" sz="2000" dirty="0"/>
              <a:t>The Challenge Modern sports teams rely heavily on strategy and tactical planning. However, analyzing past matches, opponent strategies, and player performance patterns requires extensive manual work by analysts and coaching staff. Many teams lack tools that can quickly analyze historical gameplay data and generate strategic insights. The Objective Build an AI‑powered Game Strategy Advisor Agent that analyzes previous match data, team formations, and opponent strategies to recommend optimized game plans. 1. Match Data Analysis (RAG) :– Retrieve historical match data, formations, and tactical patterns. 2. Opponent Strategy Analysis :– Detect patterns in opponent play styles, strengths, and weaknesses. 3. Tactical Recommendation Engine :– Suggest optimal strategies such as formations, defensive setups, or attacking tactics. 4. Real‑Time Strategic Insights – Provide quick recommendations before or during matches. 5. Multi‑Agent System • Match Analysis Agent – Analyzes historical gameplay data. • Opponent Strategy Agent – Identifies tactical patterns used by opposing teams. • Strategy Recommendation Agent – Suggests optimal game plans. • Insight Explanation Agent – Converts complex analysis into actionable coaching advice. 6. Visualization Dashboard Show team formations, tactical comparisons, opponent weaknesses, and recommended strategies in a clear visual interface. Tech Stack • IBM </a:t>
            </a:r>
            <a:r>
              <a:rPr lang="en-US" sz="2000" dirty="0" err="1"/>
              <a:t>Langflow</a:t>
            </a:r>
            <a:r>
              <a:rPr lang="en-US" sz="2000" dirty="0"/>
              <a:t> / IBM Orchestrate + IBM Models</a:t>
            </a:r>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07246" y="403443"/>
            <a:ext cx="10465553" cy="830997"/>
          </a:xfrm>
          <a:prstGeom prst="rect">
            <a:avLst/>
          </a:prstGeom>
          <a:noFill/>
        </p:spPr>
        <p:txBody>
          <a:bodyPr wrap="square" rtlCol="0">
            <a:spAutoFit/>
          </a:bodyPr>
          <a:lstStyle/>
          <a:p>
            <a:r>
              <a:rPr lang="en-US" sz="2400" b="1" dirty="0"/>
              <a:t>Problem Statement - The AI Game Strategy Advisor Agent </a:t>
            </a:r>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816933"/>
            <a:ext cx="10445889" cy="6401753"/>
          </a:xfrm>
          <a:prstGeom prst="rect">
            <a:avLst/>
          </a:prstGeom>
          <a:noFill/>
        </p:spPr>
        <p:txBody>
          <a:bodyPr wrap="square" rtlCol="0">
            <a:spAutoFit/>
          </a:bodyPr>
          <a:lstStyle/>
          <a:p>
            <a:pPr fontAlgn="base"/>
            <a:endParaRPr lang="en-US" sz="2000" b="1" dirty="0"/>
          </a:p>
          <a:p>
            <a:r>
              <a:rPr lang="en-US" sz="2000" b="1" dirty="0"/>
              <a:t>Proposed Solution: </a:t>
            </a:r>
            <a:r>
              <a:rPr lang="en-IN" sz="2000" b="1" dirty="0"/>
              <a:t>The AI Game Strategy Advisor Agent</a:t>
            </a:r>
            <a:r>
              <a:rPr lang="en-IN" sz="2000" dirty="0"/>
              <a:t> is an intelligent web-based platform that provides gamers with personalized strategies, gameplay guidance, and real-time recommendations using Artificial Intelligence. Instead of searching through multiple websites, videos, or forums, users can simply describe their game, current challenge, or objective, and the AI will generate tailored advice within seconds.</a:t>
            </a:r>
          </a:p>
          <a:p>
            <a:r>
              <a:rPr lang="en-IN" sz="2000" dirty="0"/>
              <a:t>The system </a:t>
            </a:r>
            <a:r>
              <a:rPr lang="en-IN" sz="2000" dirty="0" err="1"/>
              <a:t>analyzes</a:t>
            </a:r>
            <a:r>
              <a:rPr lang="en-IN" sz="2000" dirty="0"/>
              <a:t> the user's input—such as the game title, character, level, game mode, or boss encounter—and delivers optimized strategies, character builds, weapon recommendations, team compositions, and tactical tips. It supports players of all skill levels, from beginners seeking basic guidance to experienced gamers looking for advanced competitive strategies.</a:t>
            </a:r>
          </a:p>
          <a:p>
            <a:r>
              <a:rPr lang="en-IN" sz="2000" b="1" dirty="0"/>
              <a:t>Key Features</a:t>
            </a:r>
          </a:p>
          <a:p>
            <a:r>
              <a:rPr lang="en-IN" sz="2000" dirty="0"/>
              <a:t>Personalized game strategy recommendations </a:t>
            </a:r>
          </a:p>
          <a:p>
            <a:r>
              <a:rPr lang="en-IN" sz="2000" dirty="0"/>
              <a:t>Character builds and equipment suggestions </a:t>
            </a:r>
          </a:p>
          <a:p>
            <a:r>
              <a:rPr lang="en-IN" sz="2000" dirty="0"/>
              <a:t>Boss fight tactics and walkthroughs </a:t>
            </a:r>
          </a:p>
          <a:p>
            <a:r>
              <a:rPr lang="en-IN" sz="2000" dirty="0"/>
              <a:t>Multiplayer team composition and role recommendations </a:t>
            </a:r>
          </a:p>
          <a:p>
            <a:r>
              <a:rPr lang="en-IN" sz="2000" dirty="0"/>
              <a:t>Meta analysis and gameplay optimization </a:t>
            </a:r>
          </a:p>
          <a:p>
            <a:endParaRPr lang="en-IN" dirty="0"/>
          </a:p>
          <a:p>
            <a:r>
              <a:rPr lang="en-IN" dirty="0"/>
              <a:t>.</a:t>
            </a:r>
          </a:p>
          <a:p>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586100"/>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46297"/>
            <a:ext cx="10515600" cy="6186309"/>
          </a:xfrm>
          <a:prstGeom prst="rect">
            <a:avLst/>
          </a:prstGeom>
          <a:noFill/>
        </p:spPr>
        <p:txBody>
          <a:bodyPr wrap="square" lIns="91440" tIns="45720" rIns="91440" bIns="45720" rtlCol="0" anchor="t">
            <a:spAutoFit/>
          </a:bodyPr>
          <a:lstStyle/>
          <a:p>
            <a:r>
              <a:rPr lang="en-IN" sz="2000" b="1" dirty="0"/>
              <a:t>HTML5</a:t>
            </a:r>
          </a:p>
          <a:p>
            <a:r>
              <a:rPr lang="en-IN" sz="2000" dirty="0"/>
              <a:t>   HTML5 is used to create the basic structure of the website, including sections, forms, buttons, and content.</a:t>
            </a:r>
          </a:p>
          <a:p>
            <a:r>
              <a:rPr lang="en-IN" sz="2000" b="1" dirty="0"/>
              <a:t>CSS3</a:t>
            </a:r>
          </a:p>
          <a:p>
            <a:r>
              <a:rPr lang="en-IN" sz="2000" dirty="0"/>
              <a:t>   CSS3 is used to style the website with </a:t>
            </a:r>
            <a:r>
              <a:rPr lang="en-IN" sz="2000" dirty="0" err="1"/>
              <a:t>colors</a:t>
            </a:r>
            <a:r>
              <a:rPr lang="en-IN" sz="2000" dirty="0"/>
              <a:t>, layouts, animations, and responsive designs for different screen sizes.</a:t>
            </a:r>
          </a:p>
          <a:p>
            <a:r>
              <a:rPr lang="en-IN" sz="2000" b="1" dirty="0"/>
              <a:t>JavaScript</a:t>
            </a:r>
          </a:p>
          <a:p>
            <a:r>
              <a:rPr lang="en-IN" sz="2000" dirty="0"/>
              <a:t>  JavaScript adds interactivity to the website, such as handling user input, displaying AI responses, and creating dynamic features.</a:t>
            </a:r>
          </a:p>
          <a:p>
            <a:r>
              <a:rPr lang="en-IN" sz="2000" b="1" dirty="0"/>
              <a:t>Node.js</a:t>
            </a:r>
          </a:p>
          <a:p>
            <a:r>
              <a:rPr lang="en-IN" sz="2000" dirty="0"/>
              <a:t>Node.js is the backend runtime environment that processes user requests and connects the website to AI services.</a:t>
            </a:r>
          </a:p>
          <a:p>
            <a:r>
              <a:rPr lang="en-IN" sz="2000" b="1" dirty="0"/>
              <a:t>OpenAI GPT API</a:t>
            </a:r>
          </a:p>
          <a:p>
            <a:r>
              <a:rPr lang="en-IN" sz="2000" dirty="0"/>
              <a:t>The OpenAI GPT API powers the AI Game Strategy Advisor by understanding user queries and generating personalized game strategies, tips, walkthroughs, and recommendations.</a:t>
            </a:r>
          </a:p>
          <a:p>
            <a:r>
              <a:rPr lang="en-IN" sz="2000" dirty="0"/>
              <a:t>.</a:t>
            </a:r>
            <a:r>
              <a:rPr lang="en-IN" sz="2000" b="1" dirty="0"/>
              <a:t>JSON</a:t>
            </a:r>
          </a:p>
          <a:p>
            <a:r>
              <a:rPr lang="en-IN" sz="2000" dirty="0"/>
              <a:t>JSON (JavaScript Object Notation) is used to exchange data between the client, server, and AI API in a lightweight and readable format</a:t>
            </a:r>
          </a:p>
          <a:p>
            <a:pPr marL="285750" indent="-285750">
              <a:buFont typeface="Arial" panose="020B0604020202020204" pitchFamily="34" charset="0"/>
              <a:buChar char="•"/>
            </a:pPr>
            <a:endParaRPr lang="en-US" sz="1100" dirty="0"/>
          </a:p>
          <a:p>
            <a:endParaRPr lang="en-US" sz="1100"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47423" y="215085"/>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740284"/>
            <a:ext cx="8823960" cy="7078861"/>
          </a:xfrm>
          <a:prstGeom prst="rect">
            <a:avLst/>
          </a:prstGeom>
          <a:noFill/>
        </p:spPr>
        <p:txBody>
          <a:bodyPr wrap="square" rtlCol="0">
            <a:spAutoFit/>
          </a:bodyPr>
          <a:lstStyle/>
          <a:p>
            <a:endParaRPr lang="en-US" dirty="0"/>
          </a:p>
          <a:p>
            <a:r>
              <a:rPr lang="en-IN" sz="1800" dirty="0"/>
              <a:t>1. Chat Input</a:t>
            </a:r>
          </a:p>
          <a:p>
            <a:r>
              <a:rPr lang="en-IN" sz="1800" dirty="0"/>
              <a:t>The Chat Input component receives the user's message, such as the game name or strategy request, and sends it to the workflow for processing.</a:t>
            </a:r>
          </a:p>
          <a:p>
            <a:r>
              <a:rPr lang="en-IN" sz="1800" dirty="0"/>
              <a:t>2. Prompt Template</a:t>
            </a:r>
          </a:p>
          <a:p>
            <a:r>
              <a:rPr lang="en-IN" sz="1800" dirty="0"/>
              <a:t>The Prompt Template component formats the user's query into a structured prompt, ensuring the AI understands the request and generates accurate responses.</a:t>
            </a:r>
          </a:p>
          <a:p>
            <a:r>
              <a:rPr lang="en-IN" sz="1800" dirty="0"/>
              <a:t>3. OpenAI (LLM)</a:t>
            </a:r>
          </a:p>
          <a:p>
            <a:r>
              <a:rPr lang="en-IN" sz="1800" dirty="0"/>
              <a:t>The OpenAI component uses a Large Language Model (LLM) to </a:t>
            </a:r>
            <a:r>
              <a:rPr lang="en-IN" sz="1800" dirty="0" err="1"/>
              <a:t>analyze</a:t>
            </a:r>
            <a:r>
              <a:rPr lang="en-IN" sz="1800" dirty="0"/>
              <a:t> the user's input and generate personalized game strategies, walkthroughs, character builds, and gameplay tips.</a:t>
            </a:r>
          </a:p>
          <a:p>
            <a:r>
              <a:rPr lang="en-IN" sz="1800" dirty="0"/>
              <a:t>4. Memory</a:t>
            </a:r>
          </a:p>
          <a:p>
            <a:r>
              <a:rPr lang="en-IN" sz="1800" dirty="0"/>
              <a:t>The Memory component stores the conversation history, allowing the AI to remember previous interactions and provide context-aware responses.</a:t>
            </a:r>
          </a:p>
          <a:p>
            <a:r>
              <a:rPr lang="en-IN" sz="1800" dirty="0"/>
              <a:t>5. Output Parser</a:t>
            </a:r>
          </a:p>
          <a:p>
            <a:r>
              <a:rPr lang="en-IN" sz="1800" dirty="0"/>
              <a:t>The Output Parser component processes the AI-generated response into a clean, readable format before displaying it to the user.</a:t>
            </a:r>
          </a:p>
          <a:p>
            <a:r>
              <a:rPr lang="en-IN" sz="1800" dirty="0"/>
              <a:t>6. Chat Output</a:t>
            </a:r>
          </a:p>
          <a:p>
            <a:r>
              <a:rPr lang="en-IN" sz="1800" dirty="0"/>
              <a:t>The Chat Output component displays the final AI response on the website, enabling users to view strategies and recommendations in a conversational format.</a:t>
            </a:r>
            <a:endParaRPr lang="en-US" sz="1800"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793224" y="1386349"/>
            <a:ext cx="2262993" cy="3537242"/>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8768014" cy="5293757"/>
          </a:xfrm>
          <a:prstGeom prst="rect">
            <a:avLst/>
          </a:prstGeom>
          <a:noFill/>
        </p:spPr>
        <p:txBody>
          <a:bodyPr wrap="square" rtlCol="0">
            <a:spAutoFit/>
          </a:bodyPr>
          <a:lstStyle/>
          <a:p>
            <a:r>
              <a:rPr lang="en-IN" sz="1800" dirty="0"/>
              <a:t>Agentic AI plays a key role in making the </a:t>
            </a:r>
            <a:r>
              <a:rPr lang="en-IN" sz="1800" b="1" dirty="0"/>
              <a:t>AI Game Strategy Advisor</a:t>
            </a:r>
            <a:r>
              <a:rPr lang="en-IN" sz="1800" dirty="0"/>
              <a:t> more intelligent, interactive, and personalized. Unlike traditional chatbots that simply answer questions, an Agentic AI can understand the user's objective, </a:t>
            </a:r>
            <a:r>
              <a:rPr lang="en-IN" sz="1800" dirty="0" err="1"/>
              <a:t>analyze</a:t>
            </a:r>
            <a:r>
              <a:rPr lang="en-IN" sz="1800" dirty="0"/>
              <a:t> the gaming situation, and provide step-by-step strategic recommendations.</a:t>
            </a:r>
          </a:p>
          <a:p>
            <a:r>
              <a:rPr lang="en-IN" sz="1800" dirty="0"/>
              <a:t>For this project, the Agentic AI performs the following functions:</a:t>
            </a:r>
          </a:p>
          <a:p>
            <a:r>
              <a:rPr lang="en-IN" sz="1800" b="1" dirty="0"/>
              <a:t>Understands User Intent:</a:t>
            </a:r>
            <a:r>
              <a:rPr lang="en-IN" sz="1800" dirty="0"/>
              <a:t> Interprets the player's query, such as defeating a boss, improving rankings, selecting the best character build, or completing a mission. </a:t>
            </a:r>
          </a:p>
          <a:p>
            <a:r>
              <a:rPr lang="en-IN" sz="1800" b="1" dirty="0"/>
              <a:t>Provides Personalized Strategies:</a:t>
            </a:r>
            <a:r>
              <a:rPr lang="en-IN" sz="1800" dirty="0"/>
              <a:t> Generates recommendations based on the user's game, skill level, playstyle, and specific challenges instead of giving generic advice. </a:t>
            </a:r>
          </a:p>
          <a:p>
            <a:r>
              <a:rPr lang="en-IN" sz="1800" b="1" dirty="0"/>
              <a:t>Maintains Conversation Context:</a:t>
            </a:r>
            <a:r>
              <a:rPr lang="en-IN" sz="1800" dirty="0"/>
              <a:t> Remembers previous interactions within the conversation, allowing users to ask follow-up questions without repeating information. </a:t>
            </a:r>
          </a:p>
          <a:p>
            <a:r>
              <a:rPr lang="en-IN" sz="1800" b="1" dirty="0"/>
              <a:t>Adapts to Different Games:</a:t>
            </a:r>
            <a:r>
              <a:rPr lang="en-IN" sz="1800" dirty="0"/>
              <a:t> Supports multiple game genres such as action, adventure, RPG, FPS, sports, and multiplayer games by tailoring responses to each game's mechanics. </a:t>
            </a:r>
          </a:p>
          <a:p>
            <a:r>
              <a:rPr lang="en-IN" sz="1800" b="1" dirty="0"/>
              <a:t>Assists in Decision-Making:</a:t>
            </a:r>
            <a:r>
              <a:rPr lang="en-IN" sz="1800" dirty="0"/>
              <a:t> Compares different weapons, characters, abilities, and tactics to help users choose the most effective option.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01205"/>
          </a:xfrm>
          <a:prstGeom prst="rect">
            <a:avLst/>
          </a:prstGeom>
          <a:noFill/>
        </p:spPr>
        <p:txBody>
          <a:bodyPr wrap="square" rtlCol="0">
            <a:spAutoFit/>
          </a:bodyPr>
          <a:lstStyle/>
          <a:p>
            <a:r>
              <a:rPr lang="en-IN" sz="2000" b="1" dirty="0"/>
              <a:t>Personalized AI Guidance:</a:t>
            </a:r>
            <a:r>
              <a:rPr lang="en-IN" sz="2000" dirty="0"/>
              <a:t> Generates customized strategies based on the user's game, objective, playstyle, and experience level. </a:t>
            </a:r>
          </a:p>
          <a:p>
            <a:r>
              <a:rPr lang="en-IN" sz="2000" b="1" dirty="0"/>
              <a:t>Multi-Game Support:</a:t>
            </a:r>
            <a:r>
              <a:rPr lang="en-IN" sz="2000" dirty="0"/>
              <a:t> Supports a wide variety of games, including action, RPG, FPS, sports, strategy, and multiplayer titles, through a single platform.</a:t>
            </a:r>
          </a:p>
          <a:p>
            <a:r>
              <a:rPr lang="en-IN" sz="2000" b="1" dirty="0"/>
              <a:t>Interactive Conversational Experience:</a:t>
            </a:r>
            <a:r>
              <a:rPr lang="en-IN" sz="2000" dirty="0"/>
              <a:t> Users can ask follow-up questions and receive detailed explanations instead of relying on fixed guides. </a:t>
            </a:r>
            <a:endParaRPr lang="en-IN" sz="2000" b="1" dirty="0"/>
          </a:p>
          <a:p>
            <a:r>
              <a:rPr lang="en-IN" sz="2000" b="1" dirty="0"/>
              <a:t>Recommendations:</a:t>
            </a:r>
            <a:r>
              <a:rPr lang="en-IN" sz="2000" dirty="0"/>
              <a:t> Understands the user's current situation, such as a boss fight, difficult mission, or competitive match, and provides relevant solutions. </a:t>
            </a:r>
          </a:p>
          <a:p>
            <a:r>
              <a:rPr lang="en-IN" sz="2000" b="1" dirty="0"/>
              <a:t>Step-by-Step Strategy Generation:</a:t>
            </a:r>
            <a:r>
              <a:rPr lang="en-IN" sz="2000" dirty="0"/>
              <a:t> Breaks down complex gameplay challenges into simple, actionable steps for better understanding. </a:t>
            </a:r>
          </a:p>
          <a:p>
            <a:r>
              <a:rPr lang="en-IN" sz="2000" b="1" dirty="0"/>
              <a:t>Adaptive Learning Experience:</a:t>
            </a:r>
            <a:r>
              <a:rPr lang="en-IN" sz="2000" dirty="0"/>
              <a:t> Adjusts responses according to whether the user is a beginner, intermediate, or advanced player. </a:t>
            </a:r>
          </a:p>
          <a:p>
            <a:r>
              <a:rPr lang="en-IN" sz="2000" b="1" dirty="0"/>
              <a:t>Real-Time AI Assistance:</a:t>
            </a:r>
            <a:r>
              <a:rPr lang="en-IN" sz="2000" dirty="0"/>
              <a:t> Provides instant recommendations without requiring users to search multiple websites, forums, or videos.</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18D2A7A-728D-82EF-6493-3EBE8611EC9B}"/>
              </a:ext>
            </a:extLst>
          </p:cNvPr>
          <p:cNvSpPr txBox="1"/>
          <p:nvPr/>
        </p:nvSpPr>
        <p:spPr>
          <a:xfrm>
            <a:off x="1317523" y="1750142"/>
            <a:ext cx="7846142" cy="400110"/>
          </a:xfrm>
          <a:prstGeom prst="rect">
            <a:avLst/>
          </a:prstGeom>
          <a:noFill/>
        </p:spPr>
        <p:txBody>
          <a:bodyPr wrap="square" rtlCol="0">
            <a:spAutoFit/>
          </a:bodyPr>
          <a:lstStyle/>
          <a:p>
            <a:r>
              <a:rPr lang="en-IN" sz="2000" b="1" dirty="0"/>
              <a:t>https://github.com/adish-sketch/AI-Game-Strategy-Advisor.</a:t>
            </a: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r>
              <a:rPr lang="en-IN" sz="2000" dirty="0"/>
              <a:t>The </a:t>
            </a:r>
            <a:r>
              <a:rPr lang="en-IN" sz="2000" b="1" dirty="0"/>
              <a:t>AI Game Strategy Advisor Agent</a:t>
            </a:r>
            <a:r>
              <a:rPr lang="en-IN" sz="2000" dirty="0"/>
              <a:t> has significant potential for future enhancement by incorporating advanced AI capabilities and expanding its range of gaming support. As gaming technologies evolve, the platform can become a comprehensive AI-powered gaming companion.</a:t>
            </a:r>
          </a:p>
          <a:p>
            <a:r>
              <a:rPr lang="en-IN" sz="2000" b="1" dirty="0"/>
              <a:t>Future Enhancements</a:t>
            </a:r>
          </a:p>
          <a:p>
            <a:r>
              <a:rPr lang="en-IN" sz="2000" b="1" dirty="0"/>
              <a:t>Voice-Based AI Assistant:</a:t>
            </a:r>
            <a:r>
              <a:rPr lang="en-IN" sz="2000" dirty="0"/>
              <a:t> Enable users to interact with the AI using voice commands for a hands-free gaming experience. </a:t>
            </a:r>
          </a:p>
          <a:p>
            <a:r>
              <a:rPr lang="en-IN" sz="2000" b="1" dirty="0"/>
              <a:t>Real-Time Gameplay Analysis:</a:t>
            </a:r>
            <a:r>
              <a:rPr lang="en-IN" sz="2000" dirty="0"/>
              <a:t> </a:t>
            </a:r>
            <a:r>
              <a:rPr lang="en-IN" sz="2000" dirty="0" err="1"/>
              <a:t>Analyze</a:t>
            </a:r>
            <a:r>
              <a:rPr lang="en-IN" sz="2000" dirty="0"/>
              <a:t> live gameplay or screen recordings and provide instant strategy suggestions. </a:t>
            </a:r>
          </a:p>
          <a:p>
            <a:r>
              <a:rPr lang="en-IN" sz="2000" b="1" dirty="0"/>
              <a:t>Image and Screenshot Analysis:</a:t>
            </a:r>
            <a:r>
              <a:rPr lang="en-IN" sz="2000" dirty="0"/>
              <a:t> Allow users to upload screenshots of game levels, maps, or bosses to receive AI-generated solutions. </a:t>
            </a:r>
          </a:p>
          <a:p>
            <a:r>
              <a:rPr lang="en-IN" sz="2000" b="1" dirty="0"/>
              <a:t>Multiplayer Team Coordination:</a:t>
            </a:r>
            <a:r>
              <a:rPr lang="en-IN" sz="2000" dirty="0"/>
              <a:t> Recommend team compositions, player roles, and strategies for cooperative and competitive multiplayer games. </a:t>
            </a:r>
          </a:p>
          <a:p>
            <a:r>
              <a:rPr lang="en-IN" sz="2000" b="1" dirty="0"/>
              <a:t>Personalized Learning:</a:t>
            </a:r>
            <a:r>
              <a:rPr lang="en-IN" sz="2000" dirty="0"/>
              <a:t> Track player performance over time and provide customized training plans to improve gaming skills. </a:t>
            </a:r>
          </a:p>
          <a:p>
            <a:r>
              <a:rPr lang="en-IN" sz="2000" b="1" dirty="0"/>
              <a:t>Integration with Popular Gaming Platforms:</a:t>
            </a:r>
            <a:r>
              <a:rPr lang="en-IN" sz="2000" dirty="0"/>
              <a:t> Connect with platforms such as Steam, Epic Games, PlayStation, Xbox, and Nintendo to offer personalized recommendations based on the user's game library.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34CF-E81D-74A6-28DE-F7316CF143B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7E0469D-F09E-DC22-CF19-756B7F0F79FD}"/>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7E4A0F36-C27F-BF28-5917-F455486B7E5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5919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0FC06A1C-AAAB-B875-205C-D95F13C8E801}"/>
              </a:ext>
            </a:extLst>
          </p:cNvPr>
          <p:cNvPicPr>
            <a:picLocks noChangeAspect="1"/>
          </p:cNvPicPr>
          <p:nvPr/>
        </p:nvPicPr>
        <p:blipFill>
          <a:blip r:embed="rId2"/>
          <a:stretch>
            <a:fillRect/>
          </a:stretch>
        </p:blipFill>
        <p:spPr>
          <a:xfrm>
            <a:off x="2781012" y="944664"/>
            <a:ext cx="6926194" cy="519066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FD5C-0B36-BA54-8C13-94A630A39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33D93B-4EB1-58E9-08DE-023F8A458BCD}"/>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2825D00C-D5CF-E4F0-AD8F-E852DB97BD6F}"/>
              </a:ext>
            </a:extLst>
          </p:cNvPr>
          <p:cNvPicPr>
            <a:picLocks noChangeAspect="1"/>
          </p:cNvPicPr>
          <p:nvPr/>
        </p:nvPicPr>
        <p:blipFill>
          <a:blip r:embed="rId2"/>
          <a:stretch>
            <a:fillRect/>
          </a:stretch>
        </p:blipFill>
        <p:spPr>
          <a:xfrm>
            <a:off x="2674852" y="807094"/>
            <a:ext cx="6695290" cy="5131148"/>
          </a:xfrm>
          <a:prstGeom prst="rect">
            <a:avLst/>
          </a:prstGeom>
        </p:spPr>
      </p:pic>
    </p:spTree>
    <p:extLst>
      <p:ext uri="{BB962C8B-B14F-4D97-AF65-F5344CB8AC3E}">
        <p14:creationId xmlns:p14="http://schemas.microsoft.com/office/powerpoint/2010/main" val="236459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2D718AC-9AF4-ADD4-3CF7-521AD2DD71D3}"/>
              </a:ext>
            </a:extLst>
          </p:cNvPr>
          <p:cNvPicPr>
            <a:picLocks noChangeAspect="1"/>
          </p:cNvPicPr>
          <p:nvPr/>
        </p:nvPicPr>
        <p:blipFill>
          <a:blip r:embed="rId2"/>
          <a:stretch>
            <a:fillRect/>
          </a:stretch>
        </p:blipFill>
        <p:spPr>
          <a:xfrm>
            <a:off x="2011566" y="903499"/>
            <a:ext cx="8306520" cy="531542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1366</Words>
  <Application>Microsoft Office PowerPoint</Application>
  <PresentationFormat>Widescreen</PresentationFormat>
  <Paragraphs>106</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adarsh gaidhankar</cp:lastModifiedBy>
  <cp:revision>19</cp:revision>
  <dcterms:created xsi:type="dcterms:W3CDTF">2025-07-08T05:06:56Z</dcterms:created>
  <dcterms:modified xsi:type="dcterms:W3CDTF">2026-07-15T10:38:37Z</dcterms:modified>
</cp:coreProperties>
</file>